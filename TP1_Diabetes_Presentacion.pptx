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/Lqy/hEKHWfUPesITd/hNBdu6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861d55b17_3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861d55b17_3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e861d55b17_3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861d55b17_2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e861d55b17_2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e861d55b17_2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861d55b17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e861d55b17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e861d55b17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7C3B2"/>
          </a:solidFill>
          <a:ln cap="flat" cmpd="sng" w="12700">
            <a:solidFill>
              <a:srgbClr val="17C3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583680" y="-1371600"/>
            <a:ext cx="3840480" cy="3840480"/>
          </a:xfrm>
          <a:prstGeom prst="ellipse">
            <a:avLst/>
          </a:prstGeom>
          <a:solidFill>
            <a:srgbClr val="1B3A5C"/>
          </a:solidFill>
          <a:ln cap="flat" cmpd="sng" w="381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498080" y="-457200"/>
            <a:ext cx="2011680" cy="2011680"/>
          </a:xfrm>
          <a:prstGeom prst="ellipse">
            <a:avLst/>
          </a:prstGeom>
          <a:solidFill>
            <a:srgbClr val="0E7C7B">
              <a:alpha val="30196"/>
            </a:srgbClr>
          </a:solidFill>
          <a:ln cap="flat" cmpd="sng" w="25400">
            <a:solidFill>
              <a:srgbClr val="17C3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858000" y="2560320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858000" y="2907792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858000" y="3255264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6858000" y="3602736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7205472" y="2560320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7205472" y="2907792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7205472" y="3255264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7205472" y="3602736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7552944" y="2560320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7552944" y="2907792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7552944" y="3255264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7552944" y="3602736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7900416" y="2560320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7900416" y="2907792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7900416" y="3255264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7900416" y="3602736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8247888" y="2560320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8247888" y="2907792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8247888" y="3255264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8247888" y="3602736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8595360" y="2560320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8595360" y="2907792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8595360" y="3255264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8595360" y="3602736"/>
            <a:ext cx="64008" cy="64008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548640" y="548640"/>
            <a:ext cx="2377440" cy="347472"/>
          </a:xfrm>
          <a:prstGeom prst="roundRect">
            <a:avLst>
              <a:gd fmla="val 21053" name="adj"/>
            </a:avLst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548640" y="5486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· SALUD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548640" y="1188720"/>
            <a:ext cx="65836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Análisis Exploratorio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 Datos: Diabetes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548640" y="28346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B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7C3B2"/>
                </a:solidFill>
                <a:latin typeface="Calibri"/>
                <a:ea typeface="Calibri"/>
                <a:cs typeface="Calibri"/>
                <a:sym typeface="Calibri"/>
              </a:rPr>
              <a:t>Entrega 1 — EDA, Preprocesamiento y Feature Engineering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548640" y="33832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130 hospitales · 10 años · 101.766 registros · 50 variables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548640" y="4297680"/>
            <a:ext cx="4114800" cy="36576"/>
          </a:xfrm>
          <a:prstGeom prst="rect">
            <a:avLst/>
          </a:prstGeom>
          <a:solidFill>
            <a:srgbClr val="0E7C7B">
              <a:alpha val="50196"/>
            </a:srgbClr>
          </a:solidFill>
          <a:ln cap="flat" cmpd="sng" w="12700">
            <a:solidFill>
              <a:srgbClr val="0E7C7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"/>
          <p:cNvSpPr/>
          <p:nvPr/>
        </p:nvSpPr>
        <p:spPr>
          <a:xfrm>
            <a:off x="548640" y="448056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Universidad · Trabajo Práctico Nº1 · 2024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228600" y="77724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228600" y="141732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B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7C3B2"/>
                </a:solidFill>
                <a:latin typeface="Calibri"/>
                <a:ea typeface="Calibri"/>
                <a:cs typeface="Calibri"/>
                <a:sym typeface="Calibri"/>
              </a:rPr>
              <a:t>Análisis Exploratorio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B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7C3B2"/>
                </a:solidFill>
                <a:latin typeface="Calibri"/>
                <a:ea typeface="Calibri"/>
                <a:cs typeface="Calibri"/>
                <a:sym typeface="Calibri"/>
              </a:rPr>
              <a:t>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228600" y="2286000"/>
            <a:ext cx="2651760" cy="566928"/>
          </a:xfrm>
          <a:prstGeom prst="rect">
            <a:avLst/>
          </a:prstGeom>
          <a:solidFill>
            <a:srgbClr val="0E7C7B">
              <a:alpha val="25098"/>
            </a:srgbClr>
          </a:solidFill>
          <a:ln cap="flat" cmpd="sng" w="12700">
            <a:solidFill>
              <a:srgbClr val="0E7C7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320040" y="2322576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B2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7C3B2"/>
                </a:solidFill>
                <a:latin typeface="Georgia"/>
                <a:ea typeface="Georgia"/>
                <a:cs typeface="Georgia"/>
                <a:sym typeface="Georgia"/>
              </a:rPr>
              <a:t>101.766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20040" y="257860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Registros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228600" y="2944368"/>
            <a:ext cx="2651760" cy="566928"/>
          </a:xfrm>
          <a:prstGeom prst="rect">
            <a:avLst/>
          </a:prstGeom>
          <a:solidFill>
            <a:srgbClr val="0E7C7B">
              <a:alpha val="25098"/>
            </a:srgbClr>
          </a:solidFill>
          <a:ln cap="flat" cmpd="sng" w="12700">
            <a:solidFill>
              <a:srgbClr val="0E7C7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320040" y="298094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B2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7C3B2"/>
                </a:solidFill>
                <a:latin typeface="Georgia"/>
                <a:ea typeface="Georgia"/>
                <a:cs typeface="Georgia"/>
                <a:sym typeface="Georgia"/>
              </a:rPr>
              <a:t>50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320040" y="3236976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228600" y="3602736"/>
            <a:ext cx="2651760" cy="566928"/>
          </a:xfrm>
          <a:prstGeom prst="rect">
            <a:avLst/>
          </a:prstGeom>
          <a:solidFill>
            <a:srgbClr val="0E7C7B">
              <a:alpha val="25098"/>
            </a:srgbClr>
          </a:solidFill>
          <a:ln cap="flat" cmpd="sng" w="12700">
            <a:solidFill>
              <a:srgbClr val="0E7C7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320040" y="363931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B2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7C3B2"/>
                </a:solidFill>
                <a:latin typeface="Georgia"/>
                <a:ea typeface="Georgia"/>
                <a:cs typeface="Georgia"/>
                <a:sym typeface="Georgia"/>
              </a:rPr>
              <a:t>10 años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320040" y="389534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1999 – 2008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228600" y="4261104"/>
            <a:ext cx="2651760" cy="566928"/>
          </a:xfrm>
          <a:prstGeom prst="rect">
            <a:avLst/>
          </a:prstGeom>
          <a:solidFill>
            <a:srgbClr val="0E7C7B">
              <a:alpha val="25098"/>
            </a:srgbClr>
          </a:solidFill>
          <a:ln cap="flat" cmpd="sng" w="12700">
            <a:solidFill>
              <a:srgbClr val="0E7C7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320040" y="429768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B2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7C3B2"/>
                </a:solidFill>
                <a:latin typeface="Georgia"/>
                <a:ea typeface="Georgia"/>
                <a:cs typeface="Georgia"/>
                <a:sym typeface="Georgia"/>
              </a:rPr>
              <a:t>130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320040" y="455371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Hospitales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3337560" y="411480"/>
            <a:ext cx="5486400" cy="13533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3337560" y="411480"/>
            <a:ext cx="64008" cy="1353312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3520440" y="521208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Variables Numéricas y </a:t>
            </a:r>
            <a:r>
              <a:rPr b="1" lang="en-US" sz="13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Categóricas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3520440" y="850392"/>
            <a:ext cx="5212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5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5A"/>
                </a:solidFill>
                <a:latin typeface="Calibri"/>
                <a:ea typeface="Calibri"/>
                <a:cs typeface="Calibri"/>
                <a:sym typeface="Calibri"/>
              </a:rPr>
              <a:t>13 numéricas · 37 categóricas. </a:t>
            </a:r>
            <a:endParaRPr sz="1050">
              <a:solidFill>
                <a:srgbClr val="3A4A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A4A5A"/>
              </a:buClr>
              <a:buSzPts val="1050"/>
              <a:buFont typeface="Calibri"/>
              <a:buChar char="-"/>
            </a:pPr>
            <a:r>
              <a:rPr b="0" i="0" lang="en-US" sz="1050" u="none" cap="none" strike="noStrike">
                <a:solidFill>
                  <a:srgbClr val="3A4A5A"/>
                </a:solidFill>
                <a:latin typeface="Calibri"/>
                <a:ea typeface="Calibri"/>
                <a:cs typeface="Calibri"/>
                <a:sym typeface="Calibri"/>
              </a:rPr>
              <a:t>Días de internación: media 4,4 · mediana 4. </a:t>
            </a:r>
            <a:endParaRPr b="0" i="0" sz="1050" u="none" cap="none" strike="noStrike">
              <a:solidFill>
                <a:srgbClr val="3A4A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A4A5A"/>
              </a:buClr>
              <a:buSzPts val="1050"/>
              <a:buFont typeface="Calibri"/>
              <a:buChar char="-"/>
            </a:pPr>
            <a:r>
              <a:rPr b="0" i="0" lang="en-US" sz="1050" u="none" cap="none" strike="noStrike">
                <a:solidFill>
                  <a:srgbClr val="3A4A5A"/>
                </a:solidFill>
                <a:latin typeface="Calibri"/>
                <a:ea typeface="Calibri"/>
                <a:cs typeface="Calibri"/>
                <a:sym typeface="Calibri"/>
              </a:rPr>
              <a:t>Procedimientos de laboratorio: media 43 </a:t>
            </a:r>
            <a:endParaRPr b="0" i="0" sz="1050" u="none" cap="none" strike="noStrike">
              <a:solidFill>
                <a:srgbClr val="3A4A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A4A5A"/>
              </a:buClr>
              <a:buSzPts val="1050"/>
              <a:buFont typeface="Calibri"/>
              <a:buChar char="-"/>
            </a:pPr>
            <a:r>
              <a:rPr lang="en-US" sz="1050">
                <a:solidFill>
                  <a:srgbClr val="3A4A5A"/>
                </a:solidFill>
                <a:latin typeface="Calibri"/>
                <a:ea typeface="Calibri"/>
                <a:cs typeface="Calibri"/>
                <a:sym typeface="Calibri"/>
              </a:rPr>
              <a:t>Cantidad de medicamentos administrados: Media 15, mediana 15,5</a:t>
            </a:r>
            <a:endParaRPr sz="1050">
              <a:solidFill>
                <a:srgbClr val="3A4A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3337560" y="1920240"/>
            <a:ext cx="5486400" cy="13533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3337560" y="1920240"/>
            <a:ext cx="64008" cy="1353312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3520440" y="2029968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Correlaciones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3520375" y="2429935"/>
            <a:ext cx="5212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A4A5A"/>
              </a:buClr>
              <a:buSzPts val="1050"/>
              <a:buFont typeface="Calibri"/>
              <a:buChar char="-"/>
            </a:pPr>
            <a:r>
              <a:rPr b="0" i="0" lang="en-US" sz="1050" u="none" cap="none" strike="noStrike">
                <a:solidFill>
                  <a:srgbClr val="3A4A5A"/>
                </a:solidFill>
                <a:latin typeface="Calibri"/>
                <a:ea typeface="Calibri"/>
                <a:cs typeface="Calibri"/>
                <a:sym typeface="Calibri"/>
              </a:rPr>
              <a:t>Mayor correlación: time_in_hospital </a:t>
            </a:r>
            <a:r>
              <a:rPr lang="en-US" sz="1050">
                <a:solidFill>
                  <a:srgbClr val="3A4A5A"/>
                </a:solidFill>
                <a:latin typeface="Calibri"/>
                <a:ea typeface="Calibri"/>
                <a:cs typeface="Calibri"/>
                <a:sym typeface="Calibri"/>
              </a:rPr>
              <a:t>con </a:t>
            </a:r>
            <a:r>
              <a:rPr b="0" i="0" lang="en-US" sz="1050" u="none" cap="none" strike="noStrike">
                <a:solidFill>
                  <a:srgbClr val="3A4A5A"/>
                </a:solidFill>
                <a:latin typeface="Calibri"/>
                <a:ea typeface="Calibri"/>
                <a:cs typeface="Calibri"/>
                <a:sym typeface="Calibri"/>
              </a:rPr>
              <a:t>num_medications (0,47). </a:t>
            </a:r>
            <a:endParaRPr b="0" i="0" sz="1050" u="none" cap="none" strike="noStrike">
              <a:solidFill>
                <a:srgbClr val="3A4A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A4A5A"/>
              </a:buClr>
              <a:buSzPts val="1050"/>
              <a:buFont typeface="Calibri"/>
              <a:buChar char="-"/>
            </a:pPr>
            <a:r>
              <a:rPr b="0" i="0" lang="en-US" sz="1050" u="none" cap="none" strike="noStrike">
                <a:solidFill>
                  <a:srgbClr val="3A4A5A"/>
                </a:solidFill>
                <a:latin typeface="Calibri"/>
                <a:ea typeface="Calibri"/>
                <a:cs typeface="Calibri"/>
                <a:sym typeface="Calibri"/>
              </a:rPr>
              <a:t>num_procedures </a:t>
            </a:r>
            <a:r>
              <a:rPr lang="en-US" sz="1050">
                <a:solidFill>
                  <a:srgbClr val="3A4A5A"/>
                </a:solidFill>
                <a:latin typeface="Calibri"/>
                <a:ea typeface="Calibri"/>
                <a:cs typeface="Calibri"/>
                <a:sym typeface="Calibri"/>
              </a:rPr>
              <a:t>con</a:t>
            </a:r>
            <a:r>
              <a:rPr b="0" i="0" lang="en-US" sz="1050" u="none" cap="none" strike="noStrike">
                <a:solidFill>
                  <a:srgbClr val="3A4A5A"/>
                </a:solidFill>
                <a:latin typeface="Calibri"/>
                <a:ea typeface="Calibri"/>
                <a:cs typeface="Calibri"/>
                <a:sym typeface="Calibri"/>
              </a:rPr>
              <a:t> num_medications (0,39)</a:t>
            </a:r>
            <a:endParaRPr sz="1050">
              <a:solidFill>
                <a:srgbClr val="3A4A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A4A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3337560" y="3429000"/>
            <a:ext cx="5486400" cy="13533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3337560" y="3429000"/>
            <a:ext cx="64008" cy="1353312"/>
          </a:xfrm>
          <a:prstGeom prst="rect">
            <a:avLst/>
          </a:prstGeom>
          <a:solidFill>
            <a:srgbClr val="17C3B2"/>
          </a:solidFill>
          <a:ln cap="flat" cmpd="sng" w="12700">
            <a:solidFill>
              <a:srgbClr val="17C3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3520440" y="3538728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Valores Faltantes</a:t>
            </a:r>
            <a:r>
              <a:rPr b="1" lang="en-US" sz="13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Outliers y Errores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3520451" y="3867900"/>
            <a:ext cx="5530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A4A5A"/>
              </a:buClr>
              <a:buSzPts val="1050"/>
              <a:buFont typeface="Calibri"/>
              <a:buChar char="-"/>
            </a:pPr>
            <a:r>
              <a:rPr b="0" i="0" lang="en-US" sz="1050" u="none" cap="none" strike="noStrike">
                <a:solidFill>
                  <a:srgbClr val="3A4A5A"/>
                </a:solidFill>
                <a:latin typeface="Calibri"/>
                <a:ea typeface="Calibri"/>
                <a:cs typeface="Calibri"/>
                <a:sym typeface="Calibri"/>
              </a:rPr>
              <a:t>Weight (96,9% faltante)</a:t>
            </a:r>
            <a:endParaRPr sz="1050">
              <a:solidFill>
                <a:srgbClr val="3A4A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A4A5A"/>
              </a:buClr>
              <a:buSzPts val="1050"/>
              <a:buFont typeface="Calibri"/>
              <a:buChar char="-"/>
            </a:pPr>
            <a:r>
              <a:rPr b="0" i="0" lang="en-US" sz="1050" u="none" cap="none" strike="noStrike">
                <a:solidFill>
                  <a:srgbClr val="3A4A5A"/>
                </a:solidFill>
                <a:latin typeface="Calibri"/>
                <a:ea typeface="Calibri"/>
                <a:cs typeface="Calibri"/>
                <a:sym typeface="Calibri"/>
              </a:rPr>
              <a:t>max_glu_serum y A1Cresult → MNAR. </a:t>
            </a:r>
            <a:endParaRPr b="0" i="0" sz="1050" u="none" cap="none" strike="noStrike">
              <a:solidFill>
                <a:srgbClr val="3A4A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A4A5A"/>
              </a:buClr>
              <a:buSzPts val="1050"/>
              <a:buFont typeface="Calibri"/>
              <a:buChar char="-"/>
            </a:pPr>
            <a:r>
              <a:rPr b="0" i="0" lang="en-US" sz="1050" u="none" cap="none" strike="noStrike">
                <a:solidFill>
                  <a:srgbClr val="3A4A5A"/>
                </a:solidFill>
                <a:latin typeface="Calibri"/>
                <a:ea typeface="Calibri"/>
                <a:cs typeface="Calibri"/>
                <a:sym typeface="Calibri"/>
              </a:rPr>
              <a:t>Medical_specialty y payer_code → MAR. </a:t>
            </a:r>
            <a:endParaRPr b="0" i="0" sz="1050" u="none" cap="none" strike="noStrike">
              <a:solidFill>
                <a:srgbClr val="3A4A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A4A5A"/>
              </a:buClr>
              <a:buSzPts val="1050"/>
              <a:buFont typeface="Calibri"/>
              <a:buChar char="-"/>
            </a:pPr>
            <a:r>
              <a:rPr b="0" i="0" lang="en-US" sz="1050" u="none" cap="none" strike="noStrike">
                <a:solidFill>
                  <a:srgbClr val="3A4A5A"/>
                </a:solidFill>
                <a:latin typeface="Calibri"/>
                <a:ea typeface="Calibri"/>
                <a:cs typeface="Calibri"/>
                <a:sym typeface="Calibri"/>
              </a:rPr>
              <a:t>Outliers en number_outpatient, number_emergency e number_inpatient.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3337560" y="4773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e861d55b17_3_5" title="Screenshot 2026-06-04 at 16.34.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300" y="152400"/>
            <a:ext cx="779030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7C3B2"/>
          </a:solidFill>
          <a:ln cap="flat" cmpd="sng" w="12700">
            <a:solidFill>
              <a:srgbClr val="17C3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9661" y="1172238"/>
            <a:ext cx="4000764" cy="293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3" title="Screenshot 2026-06-04 at 16.37.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64627"/>
            <a:ext cx="4323337" cy="3546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365750" y="201175"/>
            <a:ext cx="5651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Definición del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Problema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70310" y="2441440"/>
            <a:ext cx="5577900" cy="1170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370310" y="2441440"/>
            <a:ext cx="63900" cy="117030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553190" y="2532880"/>
            <a:ext cx="530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Clasificación Binaria Supervisada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53190" y="2852920"/>
            <a:ext cx="5303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5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5A"/>
                </a:solidFill>
                <a:latin typeface="Calibri"/>
                <a:ea typeface="Calibri"/>
                <a:cs typeface="Calibri"/>
                <a:sym typeface="Calibri"/>
              </a:rPr>
              <a:t>El dataset contiene etiquetas reales (readmitted). Se reformula como clasificación binaria: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5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5A"/>
                </a:solidFill>
                <a:latin typeface="Calibri"/>
                <a:ea typeface="Calibri"/>
                <a:cs typeface="Calibri"/>
                <a:sym typeface="Calibri"/>
              </a:rPr>
              <a:t>• Clase 1 (+): readmisión &lt; 30 días — caso crítico a detectar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5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5A"/>
                </a:solidFill>
                <a:latin typeface="Calibri"/>
                <a:ea typeface="Calibri"/>
                <a:cs typeface="Calibri"/>
                <a:sym typeface="Calibri"/>
              </a:rPr>
              <a:t>• Clase 0 (–): readmisión &gt; 30 días o sin readmisión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65760" y="3703320"/>
            <a:ext cx="1801368" cy="123444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7C3B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457200" y="3794760"/>
            <a:ext cx="16184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C3B2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7C3B2"/>
                </a:solidFill>
                <a:latin typeface="Georgia"/>
                <a:ea typeface="Georgia"/>
                <a:cs typeface="Georgia"/>
                <a:sym typeface="Georgia"/>
              </a:rPr>
              <a:t>Recall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57200" y="4169664"/>
            <a:ext cx="1618488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Minimizar falsos negativos. Error más costoso.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258568" y="3703320"/>
            <a:ext cx="1801368" cy="123444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7C3B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2350008" y="3794760"/>
            <a:ext cx="16184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C3B2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7C3B2"/>
                </a:solidFill>
                <a:latin typeface="Georgia"/>
                <a:ea typeface="Georgia"/>
                <a:cs typeface="Georgia"/>
                <a:sym typeface="Georgia"/>
              </a:rPr>
              <a:t>F1 Score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350008" y="4169664"/>
            <a:ext cx="1618488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Balance precisión/recall ante desbalance.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151376" y="3703320"/>
            <a:ext cx="1801368" cy="123444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7C3B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4242816" y="3794760"/>
            <a:ext cx="16184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C3B2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7C3B2"/>
                </a:solidFill>
                <a:latin typeface="Georgia"/>
                <a:ea typeface="Georgia"/>
                <a:cs typeface="Georgia"/>
                <a:sym typeface="Georgia"/>
              </a:rPr>
              <a:t>AUC-ROC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242816" y="4169664"/>
            <a:ext cx="1618488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Comparar modelos a distintos umbrales.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400800" y="548640"/>
            <a:ext cx="2560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Impacto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Médico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400800" y="1600200"/>
            <a:ext cx="2560320" cy="713232"/>
          </a:xfrm>
          <a:prstGeom prst="rect">
            <a:avLst/>
          </a:prstGeom>
          <a:solidFill>
            <a:srgbClr val="0E7C7B">
              <a:alpha val="20000"/>
            </a:srgbClr>
          </a:solidFill>
          <a:ln cap="flat" cmpd="sng" w="12700">
            <a:solidFill>
              <a:srgbClr val="0E7C7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6587549" y="1645925"/>
            <a:ext cx="2282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Falso negativo: paciente en riesgo sin seguimiento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400800" y="2441448"/>
            <a:ext cx="2560320" cy="713232"/>
          </a:xfrm>
          <a:prstGeom prst="rect">
            <a:avLst/>
          </a:prstGeom>
          <a:solidFill>
            <a:srgbClr val="0E7C7B">
              <a:alpha val="20000"/>
            </a:srgbClr>
          </a:solidFill>
          <a:ln cap="flat" cmpd="sng" w="12700">
            <a:solidFill>
              <a:srgbClr val="0E7C7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6446520" y="2532888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536024" y="2487175"/>
            <a:ext cx="2333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Mayor costo hospitalario por readmisión evitable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400800" y="3282696"/>
            <a:ext cx="2560320" cy="713232"/>
          </a:xfrm>
          <a:prstGeom prst="rect">
            <a:avLst/>
          </a:prstGeom>
          <a:solidFill>
            <a:srgbClr val="0E7C7B">
              <a:alpha val="20000"/>
            </a:srgbClr>
          </a:solidFill>
          <a:ln cap="flat" cmpd="sng" w="12700">
            <a:solidFill>
              <a:srgbClr val="0E7C7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6535925" y="3328425"/>
            <a:ext cx="2333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Falso positivo: seguimiento preventivo innecesario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400800" y="4123944"/>
            <a:ext cx="2560320" cy="713232"/>
          </a:xfrm>
          <a:prstGeom prst="rect">
            <a:avLst/>
          </a:prstGeom>
          <a:solidFill>
            <a:srgbClr val="0E7C7B">
              <a:alpha val="20000"/>
            </a:srgbClr>
          </a:solidFill>
          <a:ln cap="flat" cmpd="sng" w="12700">
            <a:solidFill>
              <a:srgbClr val="0E7C7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6587575" y="4169675"/>
            <a:ext cx="2282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accionable justo antes del alta médica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70310" y="1435483"/>
            <a:ext cx="55779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370310" y="1435483"/>
            <a:ext cx="63900" cy="9144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553190" y="1526923"/>
            <a:ext cx="530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Variable Target: readmitted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53190" y="1837819"/>
            <a:ext cx="5303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5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A4A5A"/>
                </a:solidFill>
                <a:latin typeface="Calibri"/>
                <a:ea typeface="Calibri"/>
                <a:cs typeface="Calibri"/>
                <a:sym typeface="Calibri"/>
              </a:rPr>
              <a:t>Transformada de 3 categorías (NO, &gt;30, &lt;30) a binaria. Clase positiva = reingreso crítico dentro de los 30 días posteriores al alta hospitalaria.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365697" y="128018"/>
            <a:ext cx="6400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Preprocesamiento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57200" y="603525"/>
            <a:ext cx="457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Pipeline completo: limpieza → split → imputación → outliers → escalado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274320" y="1143000"/>
            <a:ext cx="1627632" cy="3383280"/>
          </a:xfrm>
          <a:prstGeom prst="rect">
            <a:avLst/>
          </a:prstGeom>
          <a:solidFill>
            <a:srgbClr val="1B3A5C"/>
          </a:solidFill>
          <a:ln cap="flat" cmpd="sng" w="1905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274320" y="1143000"/>
            <a:ext cx="1627632" cy="91440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813816" y="1298448"/>
            <a:ext cx="548640" cy="548640"/>
          </a:xfrm>
          <a:prstGeom prst="ellipse">
            <a:avLst/>
          </a:prstGeom>
          <a:solidFill>
            <a:srgbClr val="0E7C7B">
              <a:alpha val="70196"/>
            </a:srgbClr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813816" y="12984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65760" y="193852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Limpieza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65710" y="2331657"/>
            <a:ext cx="14631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Eliminación</a:t>
            </a: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 IDs</a:t>
            </a: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(encounter_id, patient_nbr)</a:t>
            </a: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weight </a:t>
            </a:r>
            <a:r>
              <a:rPr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(96,9% faltante)</a:t>
            </a: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pacientes</a:t>
            </a: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fallecieron.</a:t>
            </a:r>
            <a:b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</a:t>
            </a: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</a:t>
            </a: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pacientes con </a:t>
            </a: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múltiples</a:t>
            </a: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internaciones</a:t>
            </a:r>
            <a:r>
              <a:rPr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conservamos  un unico registro de cada uno.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101.766 → 69.987 registros. </a:t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5"/>
          <p:cNvCxnSpPr/>
          <p:nvPr/>
        </p:nvCxnSpPr>
        <p:spPr>
          <a:xfrm>
            <a:off x="1901952" y="2843784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5"/>
          <p:cNvSpPr/>
          <p:nvPr/>
        </p:nvSpPr>
        <p:spPr>
          <a:xfrm>
            <a:off x="2011680" y="1143000"/>
            <a:ext cx="1627632" cy="3383280"/>
          </a:xfrm>
          <a:prstGeom prst="rect">
            <a:avLst/>
          </a:prstGeom>
          <a:solidFill>
            <a:srgbClr val="1B3A5C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2011680" y="1143000"/>
            <a:ext cx="1627632" cy="9144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2551176" y="1298448"/>
            <a:ext cx="548640" cy="548640"/>
          </a:xfrm>
          <a:prstGeom prst="ellipse">
            <a:avLst/>
          </a:prstGeom>
          <a:solidFill>
            <a:srgbClr val="F4A261">
              <a:alpha val="70196"/>
            </a:srgbClr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2551176" y="12984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2103120" y="193852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Split 80/20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2103125" y="2331722"/>
            <a:ext cx="14631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Train: 55.989 </a:t>
            </a: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Test: 13.998. Estratificado (9% positivos en ambos). random_state=42.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5"/>
          <p:cNvCxnSpPr/>
          <p:nvPr/>
        </p:nvCxnSpPr>
        <p:spPr>
          <a:xfrm>
            <a:off x="3639312" y="2843784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5"/>
          <p:cNvSpPr/>
          <p:nvPr/>
        </p:nvSpPr>
        <p:spPr>
          <a:xfrm>
            <a:off x="3749040" y="1143000"/>
            <a:ext cx="1627632" cy="3383280"/>
          </a:xfrm>
          <a:prstGeom prst="rect">
            <a:avLst/>
          </a:prstGeom>
          <a:solidFill>
            <a:srgbClr val="1B3A5C"/>
          </a:solidFill>
          <a:ln cap="flat" cmpd="sng" w="19050">
            <a:solidFill>
              <a:srgbClr val="17C3B2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3749040" y="1143000"/>
            <a:ext cx="1627632" cy="91440"/>
          </a:xfrm>
          <a:prstGeom prst="rect">
            <a:avLst/>
          </a:prstGeom>
          <a:solidFill>
            <a:srgbClr val="17C3B2"/>
          </a:solidFill>
          <a:ln cap="flat" cmpd="sng" w="12700">
            <a:solidFill>
              <a:srgbClr val="17C3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4288536" y="1298448"/>
            <a:ext cx="548640" cy="548640"/>
          </a:xfrm>
          <a:prstGeom prst="ellipse">
            <a:avLst/>
          </a:prstGeom>
          <a:solidFill>
            <a:srgbClr val="17C3B2">
              <a:alpha val="70196"/>
            </a:srgbClr>
          </a:solidFill>
          <a:ln cap="flat" cmpd="sng" w="12700">
            <a:solidFill>
              <a:srgbClr val="17C3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4288536" y="12984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3840480" y="193852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Valores Faltantes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840480" y="2331720"/>
            <a:ext cx="14630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Alta proporción </a:t>
            </a:r>
            <a:r>
              <a:rPr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(payer_code 39,6%, medical_specialty 49,1%) </a:t>
            </a: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→ categoría 'Desconocido'. 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Baja proporción </a:t>
            </a:r>
            <a:r>
              <a:rPr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(race, diagnostico)</a:t>
            </a: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→ imputamo</a:t>
            </a: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 con la </a:t>
            </a: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moda del train.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5"/>
          <p:cNvCxnSpPr/>
          <p:nvPr/>
        </p:nvCxnSpPr>
        <p:spPr>
          <a:xfrm>
            <a:off x="5376672" y="2843784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17C3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5"/>
          <p:cNvSpPr/>
          <p:nvPr/>
        </p:nvSpPr>
        <p:spPr>
          <a:xfrm>
            <a:off x="5486400" y="1143000"/>
            <a:ext cx="1627632" cy="3383280"/>
          </a:xfrm>
          <a:prstGeom prst="rect">
            <a:avLst/>
          </a:prstGeom>
          <a:solidFill>
            <a:srgbClr val="1B3A5C"/>
          </a:solidFill>
          <a:ln cap="flat" cmpd="sng" w="19050">
            <a:solidFill>
              <a:srgbClr val="F15BB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5486400" y="1143000"/>
            <a:ext cx="1627632" cy="91440"/>
          </a:xfrm>
          <a:prstGeom prst="rect">
            <a:avLst/>
          </a:prstGeom>
          <a:solidFill>
            <a:srgbClr val="F15BB5"/>
          </a:solidFill>
          <a:ln cap="flat" cmpd="sng" w="12700">
            <a:solidFill>
              <a:srgbClr val="F15B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6025896" y="1298448"/>
            <a:ext cx="548640" cy="548640"/>
          </a:xfrm>
          <a:prstGeom prst="ellipse">
            <a:avLst/>
          </a:prstGeom>
          <a:solidFill>
            <a:srgbClr val="F15BB5">
              <a:alpha val="70196"/>
            </a:srgbClr>
          </a:solidFill>
          <a:ln cap="flat" cmpd="sng" w="12700">
            <a:solidFill>
              <a:srgbClr val="F15B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6025896" y="12984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5577840" y="193852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577840" y="2331720"/>
            <a:ext cx="14630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Winsorización percentil 99</a:t>
            </a: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en las variables de visitas previas:</a:t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number_outpatient</a:t>
            </a: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umber_emergency</a:t>
            </a: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number_inpatient. 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t/>
            </a:r>
            <a:endParaRPr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5"/>
          <p:cNvCxnSpPr/>
          <p:nvPr/>
        </p:nvCxnSpPr>
        <p:spPr>
          <a:xfrm>
            <a:off x="7114032" y="2843784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F15B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5"/>
          <p:cNvSpPr/>
          <p:nvPr/>
        </p:nvSpPr>
        <p:spPr>
          <a:xfrm>
            <a:off x="7223760" y="1143000"/>
            <a:ext cx="1627632" cy="3383280"/>
          </a:xfrm>
          <a:prstGeom prst="rect">
            <a:avLst/>
          </a:prstGeom>
          <a:solidFill>
            <a:srgbClr val="1B3A5C"/>
          </a:solidFill>
          <a:ln cap="flat" cmpd="sng" w="19050">
            <a:solidFill>
              <a:srgbClr val="9B5DE5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7223760" y="1143000"/>
            <a:ext cx="1627632" cy="91440"/>
          </a:xfrm>
          <a:prstGeom prst="rect">
            <a:avLst/>
          </a:prstGeom>
          <a:solidFill>
            <a:srgbClr val="9B5DE5"/>
          </a:solidFill>
          <a:ln cap="flat" cmpd="sng" w="12700">
            <a:solidFill>
              <a:srgbClr val="9B5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7763256" y="1298448"/>
            <a:ext cx="548640" cy="548640"/>
          </a:xfrm>
          <a:prstGeom prst="ellipse">
            <a:avLst/>
          </a:prstGeom>
          <a:solidFill>
            <a:srgbClr val="9B5DE5">
              <a:alpha val="70196"/>
            </a:srgbClr>
          </a:solidFill>
          <a:ln cap="flat" cmpd="sng" w="12700">
            <a:solidFill>
              <a:srgbClr val="9B5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7763256" y="12984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315200" y="193852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Escalado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7296900" y="2395720"/>
            <a:ext cx="14631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StandardScaler</a:t>
            </a:r>
            <a:r>
              <a:rPr b="1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en 8 variables numéricas. </a:t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1" lang="en-US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time_in_hospital va de 1 a 14</a:t>
            </a:r>
            <a:endParaRPr b="1"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1" lang="en-US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num_lab_procedures va de 1 a 132</a:t>
            </a:r>
            <a:endParaRPr b="1"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1" lang="en-US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num_medications va de 1 a 81</a:t>
            </a:r>
            <a:endParaRPr b="1"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Fit exclusivo sobre train (sin data leakage). </a:t>
            </a:r>
            <a:endParaRPr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0E7C7B">
              <a:alpha val="30196"/>
            </a:srgbClr>
          </a:solidFill>
          <a:ln cap="flat" cmpd="sng" w="12700">
            <a:solidFill>
              <a:srgbClr val="0E7C7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C3B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7C3B2"/>
                </a:solidFill>
                <a:latin typeface="Calibri"/>
                <a:ea typeface="Calibri"/>
                <a:cs typeface="Calibri"/>
                <a:sym typeface="Calibri"/>
              </a:rPr>
              <a:t>Resultado: dataset de 69.987 registros · 0 valores faltantes · sin data leakage · clases 9% positivos en train y test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228600" y="777240"/>
            <a:ext cx="28346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Feature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Engineering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228600" y="1581910"/>
            <a:ext cx="283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B2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17C3B2"/>
                </a:solidFill>
                <a:latin typeface="Calibri"/>
                <a:ea typeface="Calibri"/>
                <a:cs typeface="Calibri"/>
                <a:sym typeface="Calibri"/>
              </a:rPr>
              <a:t>NUEVOS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228600" y="2103120"/>
            <a:ext cx="2834640" cy="502920"/>
          </a:xfrm>
          <a:prstGeom prst="rect">
            <a:avLst/>
          </a:prstGeom>
          <a:solidFill>
            <a:srgbClr val="0E7C7B">
              <a:alpha val="20000"/>
            </a:srgbClr>
          </a:solidFill>
          <a:ln cap="flat" cmpd="sng" w="12700">
            <a:solidFill>
              <a:srgbClr val="0E7C7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320040" y="2121408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B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7C3B2"/>
                </a:solidFill>
                <a:latin typeface="Calibri"/>
                <a:ea typeface="Calibri"/>
                <a:cs typeface="Calibri"/>
                <a:sym typeface="Calibri"/>
              </a:rPr>
              <a:t>visitas_pasadas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320040" y="2350008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ambulatorias + emergencias + internaciones previas</a:t>
            </a:r>
            <a:endParaRPr b="1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228600" y="2670048"/>
            <a:ext cx="2834640" cy="502920"/>
          </a:xfrm>
          <a:prstGeom prst="rect">
            <a:avLst/>
          </a:prstGeom>
          <a:solidFill>
            <a:srgbClr val="0E7C7B">
              <a:alpha val="20000"/>
            </a:srgbClr>
          </a:solidFill>
          <a:ln cap="flat" cmpd="sng" w="12700">
            <a:solidFill>
              <a:srgbClr val="0E7C7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320040" y="2688336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B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7C3B2"/>
                </a:solidFill>
                <a:latin typeface="Calibri"/>
                <a:ea typeface="Calibri"/>
                <a:cs typeface="Calibri"/>
                <a:sym typeface="Calibri"/>
              </a:rPr>
              <a:t>medicion_a1c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320040" y="2916936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Binario: ¿se midió HbA1c? Indicador de control glucémico</a:t>
            </a:r>
            <a:endParaRPr b="1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228600" y="3236976"/>
            <a:ext cx="2834640" cy="502920"/>
          </a:xfrm>
          <a:prstGeom prst="rect">
            <a:avLst/>
          </a:prstGeom>
          <a:solidFill>
            <a:srgbClr val="0E7C7B">
              <a:alpha val="20000"/>
            </a:srgbClr>
          </a:solidFill>
          <a:ln cap="flat" cmpd="sng" w="12700">
            <a:solidFill>
              <a:srgbClr val="0E7C7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320040" y="3255264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B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7C3B2"/>
                </a:solidFill>
                <a:latin typeface="Calibri"/>
                <a:ea typeface="Calibri"/>
                <a:cs typeface="Calibri"/>
                <a:sym typeface="Calibri"/>
              </a:rPr>
              <a:t>recibe_insulina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320040" y="3483864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Binario: tratamiento con insulina activo</a:t>
            </a:r>
            <a:endParaRPr b="1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228600" y="3803904"/>
            <a:ext cx="2834640" cy="502920"/>
          </a:xfrm>
          <a:prstGeom prst="rect">
            <a:avLst/>
          </a:prstGeom>
          <a:solidFill>
            <a:srgbClr val="0E7C7B">
              <a:alpha val="20000"/>
            </a:srgbClr>
          </a:solidFill>
          <a:ln cap="flat" cmpd="sng" w="12700">
            <a:solidFill>
              <a:srgbClr val="0E7C7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320040" y="3822192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B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7C3B2"/>
                </a:solidFill>
                <a:latin typeface="Calibri"/>
                <a:ea typeface="Calibri"/>
                <a:cs typeface="Calibri"/>
                <a:sym typeface="Calibri"/>
              </a:rPr>
              <a:t>n_medicamentos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20040" y="4050792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Cantidad de fármacos activos distintos</a:t>
            </a:r>
            <a:endParaRPr b="1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228600" y="4370832"/>
            <a:ext cx="2834640" cy="502920"/>
          </a:xfrm>
          <a:prstGeom prst="rect">
            <a:avLst/>
          </a:prstGeom>
          <a:solidFill>
            <a:srgbClr val="0E7C7B">
              <a:alpha val="20000"/>
            </a:srgbClr>
          </a:solidFill>
          <a:ln cap="flat" cmpd="sng" w="12700">
            <a:solidFill>
              <a:srgbClr val="0E7C7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320040" y="438912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B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7C3B2"/>
                </a:solidFill>
                <a:latin typeface="Calibri"/>
                <a:ea typeface="Calibri"/>
                <a:cs typeface="Calibri"/>
                <a:sym typeface="Calibri"/>
              </a:rPr>
              <a:t>edad_numero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320040" y="461772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Punto medio del rango etario → variable continua</a:t>
            </a:r>
            <a:endParaRPr b="1" i="0" sz="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3520440" y="320040"/>
            <a:ext cx="5303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Codificación de Variables Categóricas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3520440" y="822960"/>
            <a:ext cx="5303520" cy="6949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3520440" y="822960"/>
            <a:ext cx="64008" cy="694944"/>
          </a:xfrm>
          <a:prstGeom prst="rect">
            <a:avLst/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3675888" y="877824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Label Encoding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3675888" y="1124712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4A5A"/>
                </a:solidFill>
                <a:latin typeface="Calibri"/>
                <a:ea typeface="Calibri"/>
                <a:cs typeface="Calibri"/>
                <a:sym typeface="Calibri"/>
              </a:rPr>
              <a:t>gender, change, diabetesMed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7132320" y="877824"/>
            <a:ext cx="1600200" cy="274320"/>
          </a:xfrm>
          <a:prstGeom prst="roundRect">
            <a:avLst>
              <a:gd fmla="val 20000" name="adj"/>
            </a:avLst>
          </a:prstGeom>
          <a:solidFill>
            <a:srgbClr val="0E7C7B">
              <a:alpha val="20000"/>
            </a:srgbClr>
          </a:solidFill>
          <a:ln cap="flat" cmpd="sng" w="12700">
            <a:solidFill>
              <a:srgbClr val="0E7C7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7132320" y="877824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Variables binarias (2 categorías)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520440" y="1627632"/>
            <a:ext cx="5303520" cy="6949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3520440" y="1627632"/>
            <a:ext cx="64008" cy="694944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3675888" y="1682496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Ordinal Encoding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3675888" y="192938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4A5A"/>
                </a:solidFill>
                <a:latin typeface="Calibri"/>
                <a:ea typeface="Calibri"/>
                <a:cs typeface="Calibri"/>
                <a:sym typeface="Calibri"/>
              </a:rPr>
              <a:t>Medicamentos: No → Steady → Up → Down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7132320" y="1682496"/>
            <a:ext cx="1600200" cy="274320"/>
          </a:xfrm>
          <a:prstGeom prst="roundRect">
            <a:avLst>
              <a:gd fmla="val 20000" name="adj"/>
            </a:avLst>
          </a:prstGeom>
          <a:solidFill>
            <a:srgbClr val="F4A261">
              <a:alpha val="20000"/>
            </a:srgbClr>
          </a:solidFill>
          <a:ln cap="flat" cmpd="sng" w="12700">
            <a:solidFill>
              <a:srgbClr val="F4A26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7132320" y="1682496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Orden lógico de dosis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3520440" y="2432304"/>
            <a:ext cx="5303520" cy="6949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3520440" y="2432304"/>
            <a:ext cx="64008" cy="694944"/>
          </a:xfrm>
          <a:prstGeom prst="rect">
            <a:avLst/>
          </a:prstGeom>
          <a:solidFill>
            <a:srgbClr val="17C3B2"/>
          </a:solidFill>
          <a:ln cap="flat" cmpd="sng" w="12700">
            <a:solidFill>
              <a:srgbClr val="17C3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3675888" y="248716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One-Hot Encoding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3675888" y="2734056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4A5A"/>
                </a:solidFill>
                <a:latin typeface="Calibri"/>
                <a:ea typeface="Calibri"/>
                <a:cs typeface="Calibri"/>
                <a:sym typeface="Calibri"/>
              </a:rPr>
              <a:t>race, admission_type_id, medical_specialty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7132320" y="2487168"/>
            <a:ext cx="1600200" cy="274320"/>
          </a:xfrm>
          <a:prstGeom prst="roundRect">
            <a:avLst>
              <a:gd fmla="val 20000" name="adj"/>
            </a:avLst>
          </a:prstGeom>
          <a:solidFill>
            <a:srgbClr val="17C3B2">
              <a:alpha val="2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7132320" y="248716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Múltiples categorías sin orden. Especialidades agrupadas en 'Otro'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3520440" y="3236976"/>
            <a:ext cx="5303520" cy="6949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3520440" y="3236976"/>
            <a:ext cx="64008" cy="694944"/>
          </a:xfrm>
          <a:prstGeom prst="rect">
            <a:avLst/>
          </a:prstGeom>
          <a:solidFill>
            <a:srgbClr val="E57373"/>
          </a:solidFill>
          <a:ln cap="flat" cmpd="sng" w="12700">
            <a:solidFill>
              <a:srgbClr val="E573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3675888" y="3291840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Eliminadas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3675888" y="3538728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5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A4A5A"/>
                </a:solidFill>
                <a:latin typeface="Calibri"/>
                <a:ea typeface="Calibri"/>
                <a:cs typeface="Calibri"/>
                <a:sym typeface="Calibri"/>
              </a:rPr>
              <a:t>diag_1, diag_2, diag_3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7132320" y="3291840"/>
            <a:ext cx="1600200" cy="274320"/>
          </a:xfrm>
          <a:prstGeom prst="roundRect">
            <a:avLst>
              <a:gd fmla="val 20000" name="adj"/>
            </a:avLst>
          </a:prstGeom>
          <a:solidFill>
            <a:srgbClr val="E57373">
              <a:alpha val="20000"/>
            </a:srgbClr>
          </a:solidFill>
          <a:ln cap="flat" cmpd="sng" w="12700">
            <a:solidFill>
              <a:srgbClr val="E57373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7132320" y="3291840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Alta cardinalidad: aumentan dimensionalidad sin mejora significativa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3520440" y="4178808"/>
            <a:ext cx="5303520" cy="804672"/>
          </a:xfrm>
          <a:prstGeom prst="rect">
            <a:avLst/>
          </a:prstGeom>
          <a:solidFill>
            <a:srgbClr val="1B3A5C"/>
          </a:solidFill>
          <a:ln cap="flat" cmpd="sng" w="19050">
            <a:solidFill>
              <a:srgbClr val="17C3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3703320" y="42519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7C3B2"/>
                </a:solidFill>
                <a:latin typeface="Calibri"/>
                <a:ea typeface="Calibri"/>
                <a:cs typeface="Calibri"/>
                <a:sym typeface="Calibri"/>
              </a:rPr>
              <a:t>  Balance de Clases — SMOTE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3703320" y="4572000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Clase minoritaria: 9% (5.028 casos) → balanceado a 50% (50.961 casos) con ejemplos sintéticos. Aplicado solo sobre train.</a:t>
            </a:r>
            <a:endParaRPr b="1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7165180" y="4224525"/>
            <a:ext cx="156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4A261"/>
                </a:solidFill>
                <a:latin typeface="Georgia"/>
                <a:ea typeface="Georgia"/>
                <a:cs typeface="Georgia"/>
                <a:sym typeface="Georgia"/>
              </a:rPr>
              <a:t>9% → 50%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861d55b17_2_1"/>
          <p:cNvSpPr/>
          <p:nvPr/>
        </p:nvSpPr>
        <p:spPr>
          <a:xfrm>
            <a:off x="0" y="0"/>
            <a:ext cx="109800" cy="5143500"/>
          </a:xfrm>
          <a:prstGeom prst="rect">
            <a:avLst/>
          </a:prstGeom>
          <a:solidFill>
            <a:srgbClr val="17C3B2"/>
          </a:solidFill>
          <a:ln cap="flat" cmpd="sng" w="12700">
            <a:solidFill>
              <a:srgbClr val="17C3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e861d55b17_2_1"/>
          <p:cNvSpPr/>
          <p:nvPr/>
        </p:nvSpPr>
        <p:spPr>
          <a:xfrm>
            <a:off x="6583680" y="-1371600"/>
            <a:ext cx="3840600" cy="3840600"/>
          </a:xfrm>
          <a:prstGeom prst="ellipse">
            <a:avLst/>
          </a:prstGeom>
          <a:solidFill>
            <a:srgbClr val="1B3A5C"/>
          </a:solidFill>
          <a:ln cap="flat" cmpd="sng" w="381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e861d55b17_2_1"/>
          <p:cNvSpPr/>
          <p:nvPr/>
        </p:nvSpPr>
        <p:spPr>
          <a:xfrm>
            <a:off x="7498080" y="-457200"/>
            <a:ext cx="2011800" cy="2011800"/>
          </a:xfrm>
          <a:prstGeom prst="ellipse">
            <a:avLst/>
          </a:prstGeom>
          <a:solidFill>
            <a:srgbClr val="0E7C7B">
              <a:alpha val="30199"/>
            </a:srgbClr>
          </a:solidFill>
          <a:ln cap="flat" cmpd="sng" w="25400">
            <a:solidFill>
              <a:srgbClr val="17C3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e861d55b17_2_1"/>
          <p:cNvSpPr/>
          <p:nvPr/>
        </p:nvSpPr>
        <p:spPr>
          <a:xfrm>
            <a:off x="6858000" y="2560320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e861d55b17_2_1"/>
          <p:cNvSpPr/>
          <p:nvPr/>
        </p:nvSpPr>
        <p:spPr>
          <a:xfrm>
            <a:off x="6858000" y="2907792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e861d55b17_2_1"/>
          <p:cNvSpPr/>
          <p:nvPr/>
        </p:nvSpPr>
        <p:spPr>
          <a:xfrm>
            <a:off x="6858000" y="3255264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e861d55b17_2_1"/>
          <p:cNvSpPr/>
          <p:nvPr/>
        </p:nvSpPr>
        <p:spPr>
          <a:xfrm>
            <a:off x="6858000" y="3602736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e861d55b17_2_1"/>
          <p:cNvSpPr/>
          <p:nvPr/>
        </p:nvSpPr>
        <p:spPr>
          <a:xfrm>
            <a:off x="7205472" y="2560320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e861d55b17_2_1"/>
          <p:cNvSpPr/>
          <p:nvPr/>
        </p:nvSpPr>
        <p:spPr>
          <a:xfrm>
            <a:off x="7205472" y="2907792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e861d55b17_2_1"/>
          <p:cNvSpPr/>
          <p:nvPr/>
        </p:nvSpPr>
        <p:spPr>
          <a:xfrm>
            <a:off x="7205472" y="3255264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e861d55b17_2_1"/>
          <p:cNvSpPr/>
          <p:nvPr/>
        </p:nvSpPr>
        <p:spPr>
          <a:xfrm>
            <a:off x="7205472" y="3602736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e861d55b17_2_1"/>
          <p:cNvSpPr/>
          <p:nvPr/>
        </p:nvSpPr>
        <p:spPr>
          <a:xfrm>
            <a:off x="7552944" y="2560320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e861d55b17_2_1"/>
          <p:cNvSpPr/>
          <p:nvPr/>
        </p:nvSpPr>
        <p:spPr>
          <a:xfrm>
            <a:off x="7552944" y="2907792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e861d55b17_2_1"/>
          <p:cNvSpPr/>
          <p:nvPr/>
        </p:nvSpPr>
        <p:spPr>
          <a:xfrm>
            <a:off x="7552944" y="3255264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e861d55b17_2_1"/>
          <p:cNvSpPr/>
          <p:nvPr/>
        </p:nvSpPr>
        <p:spPr>
          <a:xfrm>
            <a:off x="7552944" y="3602736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e861d55b17_2_1"/>
          <p:cNvSpPr/>
          <p:nvPr/>
        </p:nvSpPr>
        <p:spPr>
          <a:xfrm>
            <a:off x="7900416" y="2560320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e861d55b17_2_1"/>
          <p:cNvSpPr/>
          <p:nvPr/>
        </p:nvSpPr>
        <p:spPr>
          <a:xfrm>
            <a:off x="7900416" y="2907792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e861d55b17_2_1"/>
          <p:cNvSpPr/>
          <p:nvPr/>
        </p:nvSpPr>
        <p:spPr>
          <a:xfrm>
            <a:off x="7900416" y="3255264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e861d55b17_2_1"/>
          <p:cNvSpPr/>
          <p:nvPr/>
        </p:nvSpPr>
        <p:spPr>
          <a:xfrm>
            <a:off x="7900416" y="3602736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e861d55b17_2_1"/>
          <p:cNvSpPr/>
          <p:nvPr/>
        </p:nvSpPr>
        <p:spPr>
          <a:xfrm>
            <a:off x="8247888" y="2560320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e861d55b17_2_1"/>
          <p:cNvSpPr/>
          <p:nvPr/>
        </p:nvSpPr>
        <p:spPr>
          <a:xfrm>
            <a:off x="8247888" y="2907792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e861d55b17_2_1"/>
          <p:cNvSpPr/>
          <p:nvPr/>
        </p:nvSpPr>
        <p:spPr>
          <a:xfrm>
            <a:off x="8247888" y="3255264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e861d55b17_2_1"/>
          <p:cNvSpPr/>
          <p:nvPr/>
        </p:nvSpPr>
        <p:spPr>
          <a:xfrm>
            <a:off x="8247888" y="3602736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e861d55b17_2_1"/>
          <p:cNvSpPr/>
          <p:nvPr/>
        </p:nvSpPr>
        <p:spPr>
          <a:xfrm>
            <a:off x="8595360" y="2560320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e861d55b17_2_1"/>
          <p:cNvSpPr/>
          <p:nvPr/>
        </p:nvSpPr>
        <p:spPr>
          <a:xfrm>
            <a:off x="8595360" y="2907792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e861d55b17_2_1"/>
          <p:cNvSpPr/>
          <p:nvPr/>
        </p:nvSpPr>
        <p:spPr>
          <a:xfrm>
            <a:off x="8595360" y="3255264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e861d55b17_2_1"/>
          <p:cNvSpPr/>
          <p:nvPr/>
        </p:nvSpPr>
        <p:spPr>
          <a:xfrm>
            <a:off x="8595360" y="3602736"/>
            <a:ext cx="63900" cy="63900"/>
          </a:xfrm>
          <a:prstGeom prst="ellipse">
            <a:avLst/>
          </a:prstGeom>
          <a:solidFill>
            <a:srgbClr val="17C3B2">
              <a:alpha val="40000"/>
            </a:srgbClr>
          </a:solidFill>
          <a:ln cap="flat" cmpd="sng" w="12700">
            <a:solidFill>
              <a:srgbClr val="17C3B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e861d55b17_2_1"/>
          <p:cNvSpPr/>
          <p:nvPr/>
        </p:nvSpPr>
        <p:spPr>
          <a:xfrm>
            <a:off x="548640" y="548640"/>
            <a:ext cx="2377500" cy="347400"/>
          </a:xfrm>
          <a:prstGeom prst="roundRect">
            <a:avLst>
              <a:gd fmla="val 21053" name="adj"/>
            </a:avLst>
          </a:prstGeom>
          <a:solidFill>
            <a:srgbClr val="0E7C7B"/>
          </a:solidFill>
          <a:ln cap="flat" cmpd="sng" w="12700">
            <a:solidFill>
              <a:srgbClr val="0E7C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e861d55b17_2_1"/>
          <p:cNvSpPr/>
          <p:nvPr/>
        </p:nvSpPr>
        <p:spPr>
          <a:xfrm>
            <a:off x="548640" y="548640"/>
            <a:ext cx="237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· SALUD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e861d55b17_2_1"/>
          <p:cNvSpPr/>
          <p:nvPr/>
        </p:nvSpPr>
        <p:spPr>
          <a:xfrm>
            <a:off x="548640" y="1188720"/>
            <a:ext cx="65838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Muchas gracias!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e861d55b17_2_1"/>
          <p:cNvSpPr/>
          <p:nvPr/>
        </p:nvSpPr>
        <p:spPr>
          <a:xfrm>
            <a:off x="548640" y="28346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B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7C3B2"/>
                </a:solidFill>
                <a:latin typeface="Calibri"/>
                <a:ea typeface="Calibri"/>
                <a:cs typeface="Calibri"/>
                <a:sym typeface="Calibri"/>
              </a:rPr>
              <a:t>Entrega 1 — EDA, Preprocesamiento y Feature Engineering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e861d55b17_2_1"/>
          <p:cNvSpPr/>
          <p:nvPr/>
        </p:nvSpPr>
        <p:spPr>
          <a:xfrm>
            <a:off x="692240" y="3255280"/>
            <a:ext cx="4114800" cy="36600"/>
          </a:xfrm>
          <a:prstGeom prst="rect">
            <a:avLst/>
          </a:prstGeom>
          <a:solidFill>
            <a:srgbClr val="0E7C7B">
              <a:alpha val="50199"/>
            </a:srgbClr>
          </a:solidFill>
          <a:ln cap="flat" cmpd="sng" w="12700">
            <a:solidFill>
              <a:srgbClr val="0E7C7B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e861d55b17_2_1"/>
          <p:cNvSpPr/>
          <p:nvPr/>
        </p:nvSpPr>
        <p:spPr>
          <a:xfrm>
            <a:off x="548640" y="3299546"/>
            <a:ext cx="640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Universidad · Trabajo Práctico Nº1 · 2024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2026-06-04T14:05:47Z</dcterms:created>
  <dc:creator>PptxGenJS</dc:creator>
</cp:coreProperties>
</file>